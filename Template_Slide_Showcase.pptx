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Ganti semua teks dalam kurung siku. Tampilkan tidak lebih dari 15 detik, lalu langsung ke masalah klien.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30 detik. Ceritakan masalah klien dari PRD bagian Latar Belakang dan Tujuan dengan kalimatmu sendiri.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30 detik. Sebutkan tiga peran dan satu hal penting yang membedakan hak akses setiap peran.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30 detik. Jelaskan alur data singkat: browser ke Next.js, Next.js ke Supabase, aplikasi tayang di Netlify. Sebutkan operasi sensitif yang dijaga database function.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3 menit. Slide ini hanya pengantar. Setelah menyebutkan urutannya, langsung pindah ke browser dan demo di URL Netlify dengan tiga tab, satu per peran.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1 menit 45 detik. Tunjukkan langsung di browser: satu percobaan akses tanpa hak dan satu pelanggaran aturan bisnis. Sebutkan kode test case-nya.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30 detik. Bila tidak ada fitur nilai tambah, hapus slide ini dan lewati bagian ini saat presentasi.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Waktu sekitar 15 detik. Sebutkan satu hal tersulit dan cara menyelesaikannya. Setelah itu persilakan penguji bertanya.
Hapus kotak petunjuk kuning dan teks abu-abu dalam kurung siku setelah slide diisi.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CAPSTONE SHOWCASE  ·  BOOTCAMP AI WEB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 b="1">
                <a:solidFill>
                  <a:srgbClr val="0072CE"/>
                </a:solidFill>
                <a:latin typeface="Poppins"/>
              </a:rPr>
              <a:t>Lumbung POS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0">
                <a:solidFill>
                  <a:srgbClr val="1F2937"/>
                </a:solidFill>
                <a:latin typeface="Arial"/>
              </a:rPr>
              <a:t>Lumbung Kopi dan Roti  |  Sistem Kasir (POS) Multi-Cabang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914400" cy="82296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000" b="1">
                <a:solidFill>
                  <a:srgbClr val="202020"/>
                </a:solidFill>
                <a:latin typeface="Poppins"/>
              </a:rPr>
              <a:t>Jihan Kusumawardhani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https://pos-lumbung-kopi.netlify.app   |   github.com/jihanbuildspace/pos-lumbung-kopi-2026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0">
                <a:solidFill>
                  <a:srgbClr val="5A6B78"/>
                </a:solidFill>
                <a:latin typeface="Arial"/>
              </a:rPr>
              <a:t>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Masalah klien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0584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Masalah sekarang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31520" y="1783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914400" y="1892808"/>
            <a:ext cx="31546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200" b="0">
                <a:solidFill>
                  <a:srgbClr val="1F2937"/>
                </a:solidFill>
                <a:latin typeface="Poppins"/>
              </a:rPr>
              <a:t>- Roti terakhir terjual dua kali karena dua kasir melayani bersamaan (stok menjadi minus).</a:t>
            </a:r>
            <a:endParaRPr lang="en-US" sz="1600" dirty="0"/>
          </a:p>
          <a:p>
            <a:r>
              <a:rPr sz="1200" b="0">
                <a:solidFill>
                  <a:srgbClr val="1F2937"/>
                </a:solidFill>
                <a:latin typeface="Poppins"/>
              </a:rPr>
              <a:t>- Nomor struk manual memicu nomor ganda/hilang, dan kas laci selisih tanpa pencatatan kasir bertugas.</a:t>
            </a:r>
          </a:p>
          <a:p>
            <a:r>
              <a:rPr sz="1200" b="0">
                <a:solidFill>
                  <a:srgbClr val="1F2937"/>
                </a:solidFill>
                <a:latin typeface="Poppins"/>
              </a:rPr>
              <a:t>- Void dilakukan kasir sendiri tanpa izin, serta Owner tidak tahu laba harian karena harga modal harus dirahasiakan.</a:t>
            </a:r>
          </a:p>
        </p:txBody>
      </p:sp>
      <p:sp>
        <p:nvSpPr>
          <p:cNvPr id="12" name="Shape 8"/>
          <p:cNvSpPr/>
          <p:nvPr/>
        </p:nvSpPr>
        <p:spPr>
          <a:xfrm>
            <a:off x="4663440" y="100584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aplikasi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892040" y="1783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5074920" y="1892808"/>
            <a:ext cx="31546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200" b="0">
                <a:solidFill>
                  <a:srgbClr val="1F2937"/>
                </a:solidFill>
                <a:latin typeface="Poppins"/>
              </a:rPr>
              <a:t>- Kasir mencatat checkout cepat, struk berurutan unik (BR-04), dan proteksi stok atomic anti-minus (BR-03).</a:t>
            </a:r>
            <a:endParaRPr lang="en-US" sz="1600" dirty="0"/>
          </a:p>
          <a:p>
            <a:r>
              <a:rPr sz="1200" b="0">
                <a:solidFill>
                  <a:srgbClr val="1F2937"/>
                </a:solidFill>
                <a:latin typeface="Poppins"/>
              </a:rPr>
              <a:t>- Setiap shift dibuka/ditutup dengan rekonsiliasi kas fisik, toleransi selisih Rp20.000, &amp; verifikasi Kepala Toko.</a:t>
            </a:r>
          </a:p>
          <a:p>
            <a:r>
              <a:rPr sz="1200" b="0">
                <a:solidFill>
                  <a:srgbClr val="1F2937"/>
                </a:solidFill>
                <a:latin typeface="Poppins"/>
              </a:rPr>
              <a:t>- Hak akses 3 peran terisolasi per cabang (Tebet, Bintaro, Depok); harga modal &amp; laba rahasia hanya untuk Owner.</a:t>
            </a:r>
          </a:p>
        </p:txBody>
      </p:sp>
      <p:sp>
        <p:nvSpPr>
          <p:cNvPr id="17" name="Shape 12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Peran dan hak akses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9601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072CE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14600" y="96012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0072CE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51760" y="960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Boleh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77840" y="960120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0072CE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Tidak boleh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1508760"/>
            <a:ext cx="1920240" cy="804672"/>
          </a:xfrm>
          <a:prstGeom prst="roundRect">
            <a:avLst>
              <a:gd name="adj" fmla="val 4545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50876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0072CE"/>
                </a:solidFill>
                <a:latin typeface="Poppins"/>
              </a:rPr>
              <a:t>Kasir (KSR)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14600" y="1508760"/>
            <a:ext cx="2971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2697480" y="1618488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Buka/tutup shift kasir miliknya (kas awal Rp0 - Rp2jt), checkout pesanan tunai &amp; QRIS, diskon &lt;= 10% dengan alasan, cetak struk thermal 58mm, serta pantau sisa stok cabangnya.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577840" y="1508760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760720" y="161848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B91C1C"/>
                </a:solidFill>
                <a:latin typeface="Poppins"/>
              </a:rPr>
              <a:t>Void transaksi, verifikasi shift, ubah harga, penyesuaian stok, serta [DATA RAHASIA] Dilarang melihat harga modal &amp; laba.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2920" y="2404872"/>
            <a:ext cx="1920240" cy="804672"/>
          </a:xfrm>
          <a:prstGeom prst="roundRect">
            <a:avLst>
              <a:gd name="adj" fmla="val 4545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240487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0072CE"/>
                </a:solidFill>
                <a:latin typeface="Poppins"/>
              </a:rPr>
              <a:t>Kepala Toko (KT)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514600" y="2404872"/>
            <a:ext cx="2971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2697480" y="2514600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Awasi 1 cabang (Tebet/Bintaro/Depok), approval void transaksi lunas hari ini, verifikasi shift kasir, catat penyesuaian stok cabang, dan pantau laporan omzet cabang.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577840" y="2404872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5760720" y="251460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B91C1C"/>
                </a:solidFill>
                <a:latin typeface="Poppins"/>
              </a:rPr>
              <a:t>Akses cabang lain, ubah katalog/kredensial, serta [DATA RAHASIA] Dilarang melihat harga modal (HPP) &amp; margin laba.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02920" y="3300984"/>
            <a:ext cx="1920240" cy="804672"/>
          </a:xfrm>
          <a:prstGeom prst="roundRect">
            <a:avLst>
              <a:gd name="adj" fmla="val 4545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30098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0072CE"/>
                </a:solidFill>
                <a:latin typeface="Poppins"/>
              </a:rPr>
              <a:t>Owner (OWN)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514600" y="3300984"/>
            <a:ext cx="2971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2697480" y="3410712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Akses penuh 3 cabang, kelola produk &amp; staf, pantau immutable audit log, serta [DATA RAHASIA] Melihat harga modal (HPP) &amp; analisa laba kotor/margin harian.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577840" y="3300984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5760720" y="34107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B91C1C"/>
                </a:solidFill>
                <a:latin typeface="Poppins"/>
              </a:rPr>
              <a:t>Akun non-aktif diblokir total dari sistem (BR-01).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Arsitektur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058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072CE"/>
                </a:solidFill>
                <a:latin typeface="Poppins"/>
              </a:rPr>
              <a:t>React 19 + TypeScript + Vite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5800" y="1691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Halaman SPA responsif (POS Kasir, Shift, Transaksi, Stok, Laporan, Pengaturan), route guard berbasis peran, dan sinkronisasi dual-screen via BroadcastChannel API.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017520" y="1920240"/>
            <a:ext cx="274320" cy="0"/>
          </a:xfrm>
          <a:prstGeom prst="line">
            <a:avLst/>
          </a:prstGeom>
          <a:noFill/>
          <a:ln w="2540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337560" y="10058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6F1FB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6908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072CE"/>
                </a:solidFill>
                <a:latin typeface="Poppins"/>
              </a:rPr>
              <a:t>Supabase (PostgreSQL)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520440" y="1691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Supabase Auth, Row Level Security (RLS) per cabang, sequences nomor struk otomatis unik, database trigger, dan immutable audit log.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852160" y="1920240"/>
            <a:ext cx="274320" cy="0"/>
          </a:xfrm>
          <a:prstGeom prst="line">
            <a:avLst/>
          </a:prstGeom>
          <a:noFill/>
          <a:ln w="2540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172200" y="10058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072CE"/>
                </a:solidFill>
                <a:latin typeface="Poppins"/>
              </a:rPr>
              <a:t>Netlify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355080" y="1691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Hosting production SPA, environment variables terisolasi di server, proxy redirect /supabase/* gateway, dan proteksi robots noindex.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02920" y="2971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Operasi sensitif yang dijaga database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502920" y="338328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3" name="Text 17"/>
          <p:cNvSpPr/>
          <p:nvPr/>
        </p:nvSpPr>
        <p:spPr>
          <a:xfrm>
            <a:off x="685800" y="3493008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- Atomic Stock Lock (BR-03): Pengecekan &amp; pemotongan stok di level database transaction; jika stok kurang, transaksi rollback (anti race condition 2 kasir).</a:t>
            </a:r>
            <a:endParaRPr lang="en-US" sz="1500" dirty="0"/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- Nomor Struk Urut Unik (BR-04): Sequence database menghasilkan format KODE-YYYYMMDD-NNNN per cabang per hari tanpa jeda &amp; tanpa duplikasi.</a:t>
            </a:r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- Kerahasiaan Modal (BR-11): Harga modal (HPP) difilter di level database/RLS, tidak pernah dikirim ke browser Kasir &amp; Kepala Toko.</a:t>
            </a:r>
          </a:p>
        </p:txBody>
      </p:sp>
      <p:sp>
        <p:nvSpPr>
          <p:cNvPr id="24" name="Shape 18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alur utama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05840"/>
            <a:ext cx="2468880" cy="2423160"/>
          </a:xfrm>
          <a:prstGeom prst="roundRect">
            <a:avLst>
              <a:gd name="adj" fmla="val 3019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1430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072CE"/>
                </a:solidFill>
                <a:latin typeface="Poppins"/>
              </a:rPr>
              <a:t>Kasir Tebet (Dimas Anggara)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17830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868680" y="1892808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0">
                <a:solidFill>
                  <a:srgbClr val="1F2937"/>
                </a:solidFill>
                <a:latin typeface="Poppins"/>
              </a:rPr>
              <a:t>Buka shift kas awal Rp100.000, checkout pesanan Roti &amp; Kopi di POS, cetak struk TBT-20261025-0001, input uang fisik &amp; ajukan tutup shift.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269748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D500"/>
          </a:solidFill>
          <a:ln w="15875">
            <a:solidFill>
              <a:srgbClr val="FFD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0D9488"/>
                </a:solidFill>
                <a:latin typeface="Arial"/>
              </a:rPr>
              <a:t>Shift: buka -&gt; Transaksi: lunas -&gt; Shift: ditutup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017520" y="2194560"/>
            <a:ext cx="274320" cy="0"/>
          </a:xfrm>
          <a:prstGeom prst="line">
            <a:avLst/>
          </a:prstGeom>
          <a:noFill/>
          <a:ln w="2540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337560" y="1005840"/>
            <a:ext cx="2468880" cy="2423160"/>
          </a:xfrm>
          <a:prstGeom prst="roundRect">
            <a:avLst>
              <a:gd name="adj" fmla="val 3019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0440" y="11430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20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114800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072CE"/>
                </a:solidFill>
                <a:latin typeface="Poppins"/>
              </a:rPr>
              <a:t>Kepala Toko Tebet (Bayu Pratama)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520440" y="17830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3703320" y="1892808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0">
                <a:solidFill>
                  <a:srgbClr val="1F2937"/>
                </a:solidFill>
                <a:latin typeface="Poppins"/>
              </a:rPr>
              <a:t>Buka tab Shift Cabang untuk verifikasi shift Dimas; approval void transaksi salah input dengan alasan &gt;= 10 karakter (stok otomatis kembali).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520440" y="269748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D500"/>
          </a:solidFill>
          <a:ln w="15875">
            <a:solidFill>
              <a:srgbClr val="FFD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044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0D9488"/>
                </a:solidFill>
                <a:latin typeface="Arial"/>
              </a:rPr>
              <a:t>Shift: diverifikasi | Transaksi: void (stok kembali)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852160" y="2194560"/>
            <a:ext cx="274320" cy="0"/>
          </a:xfrm>
          <a:prstGeom prst="line">
            <a:avLst/>
          </a:prstGeom>
          <a:noFill/>
          <a:ln w="2540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172200" y="1005840"/>
            <a:ext cx="2468880" cy="2423160"/>
          </a:xfrm>
          <a:prstGeom prst="roundRect">
            <a:avLst>
              <a:gd name="adj" fmla="val 3019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55080" y="11430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949440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072CE"/>
                </a:solidFill>
                <a:latin typeface="Poppins"/>
              </a:rPr>
              <a:t>Owner (Hendra Wijaya)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355080" y="17830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537960" y="1892808"/>
            <a:ext cx="1737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0">
                <a:solidFill>
                  <a:srgbClr val="1F2937"/>
                </a:solidFill>
                <a:latin typeface="Poppins"/>
              </a:rPr>
              <a:t>Buka Laporan 3 cabang: pantau omzet, laba kotor &amp; margin, grafik produk terlaris, dan periksa rekam jejak di menu Audit Log.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355080" y="269748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D500"/>
          </a:solidFill>
          <a:ln w="15875">
            <a:solidFill>
              <a:srgbClr val="FFD5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5508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0D9488"/>
                </a:solidFill>
                <a:latin typeface="Arial"/>
              </a:rPr>
              <a:t>Laporan: real-time | Audit Log: recorded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2920" y="3566160"/>
            <a:ext cx="8138160" cy="594360"/>
          </a:xfrm>
          <a:prstGeom prst="roundRect">
            <a:avLst>
              <a:gd name="adj" fmla="val 7692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75888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188720" y="3566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0072CE"/>
                </a:solidFill>
                <a:latin typeface="Poppins"/>
              </a:rPr>
              <a:t>Demo Live: Buka 3 tab browser (Kasir, Kepala Toko, Owner) - Password: password123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Keamanan dan aturan bisnis yang diuji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058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161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Uji akses tanpa hak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737360" y="17373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2" name="Text 8"/>
          <p:cNvSpPr/>
          <p:nvPr/>
        </p:nvSpPr>
        <p:spPr>
          <a:xfrm>
            <a:off x="1920240" y="18470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200" b="1">
                <a:solidFill>
                  <a:srgbClr val="1F2937"/>
                </a:solidFill>
                <a:latin typeface="Poppins"/>
              </a:rPr>
              <a:t>Kasir (Dimas) &amp; Akun Nonaktif (Dina)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2514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Percobaan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737360" y="25146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1920240" y="26243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0">
                <a:solidFill>
                  <a:srgbClr val="1F2937"/>
                </a:solidFill>
                <a:latin typeface="Poppins"/>
              </a:rPr>
              <a:t>Kasir mencoba melihat kolom harga modal di API/Network tab, mencoba panggil API void, serta login memakai akun Dina (status non-aktif).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291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737360" y="329184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1920240" y="3401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1">
                <a:solidFill>
                  <a:srgbClr val="0D9488"/>
                </a:solidFill>
                <a:latin typeface="Poppins"/>
              </a:rPr>
              <a:t>Ditolak: Data modal bernilai null (terlindungi RLS), tombol void tidak tersedia untuk Kasir, dan login akun nonaktif diblokir dengan pesan 'Akun NON-AKTIF'.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63440" y="10058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1161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Aturan bisnis yang diuji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89204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897880" y="17373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6080760" y="18470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200" b="1">
                <a:solidFill>
                  <a:srgbClr val="1F2937"/>
                </a:solidFill>
                <a:latin typeface="Poppins"/>
              </a:rPr>
              <a:t>BR-03 (Proteksi Stok Anti-Minus) &amp; BR-08 (Otorisasi &amp; Syarat Void)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92040" y="2514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897880" y="25146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6080760" y="26243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0">
                <a:solidFill>
                  <a:srgbClr val="1F2937"/>
                </a:solidFill>
                <a:latin typeface="Poppins"/>
              </a:rPr>
              <a:t>- TC-06: Checkout stok terakhir oleh 2 kasir bersamaan.</a:t>
            </a:r>
            <a:endParaRPr lang="en-US" sz="1400" dirty="0"/>
          </a:p>
          <a:p>
            <a:r>
              <a:rPr sz="1000" b="0">
                <a:solidFill>
                  <a:srgbClr val="1F2937"/>
                </a:solidFill>
                <a:latin typeface="Poppins"/>
              </a:rPr>
              <a:t>- TC-12: Void transaksi lunas hari ini (alasan &lt; 10 vs &gt;= 10 karakter).</a:t>
            </a:r>
          </a:p>
        </p:txBody>
      </p:sp>
      <p:sp>
        <p:nvSpPr>
          <p:cNvPr id="28" name="Text 23"/>
          <p:cNvSpPr/>
          <p:nvPr/>
        </p:nvSpPr>
        <p:spPr>
          <a:xfrm>
            <a:off x="4892040" y="3291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897880" y="329184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30" name="Text 25"/>
          <p:cNvSpPr/>
          <p:nvPr/>
        </p:nvSpPr>
        <p:spPr>
          <a:xfrm>
            <a:off x="6080760" y="3401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000" b="1">
                <a:solidFill>
                  <a:srgbClr val="0D9488"/>
                </a:solidFill>
                <a:latin typeface="Poppins"/>
              </a:rPr>
              <a:t>- TC-06: Transaksi kedua otomatis ditolak utuh, stok tetap 0 (tidak minus).</a:t>
            </a:r>
            <a:endParaRPr lang="en-US" sz="1400" dirty="0"/>
          </a:p>
          <a:p>
            <a:r>
              <a:rPr sz="1000" b="1">
                <a:solidFill>
                  <a:srgbClr val="0D9488"/>
                </a:solidFill>
                <a:latin typeface="Poppins"/>
              </a:rPr>
              <a:t>- TC-12: Alasan &lt;10 karakter ditolak; alasan valid sukses &amp; stok kembali (16/16 TC PASSED).</a:t>
            </a:r>
          </a:p>
        </p:txBody>
      </p:sp>
      <p:sp>
        <p:nvSpPr>
          <p:cNvPr id="31" name="Shape 26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Fitur nilai tambah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0584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 b="1">
                <a:solidFill>
                  <a:srgbClr val="0072CE"/>
                </a:solidFill>
                <a:latin typeface="Poppins"/>
              </a:rPr>
              <a:t>Lumbung AI Consultant &amp; Dual-Screen Customer Facing Display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yang diselesaikan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2194560"/>
            <a:ext cx="3749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2" name="Text 8"/>
          <p:cNvSpPr/>
          <p:nvPr/>
        </p:nvSpPr>
        <p:spPr>
          <a:xfrm>
            <a:off x="914400" y="2304288"/>
            <a:ext cx="33832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- Owner butuh evaluasi bisnis omzet &amp; anomali selisih kas kasir secara instan tanpa konsultan manual.</a:t>
            </a:r>
            <a:endParaRPr lang="en-US" sz="1500" dirty="0"/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- Pelanggan di meja kasir memerlukan transparansi rincian belanja dan QR Code pembayaran QRIS yang jelas.</a:t>
            </a:r>
          </a:p>
        </p:txBody>
      </p:sp>
      <p:sp>
        <p:nvSpPr>
          <p:cNvPr id="13" name="Text 9"/>
          <p:cNvSpPr/>
          <p:nvPr/>
        </p:nvSpPr>
        <p:spPr>
          <a:xfrm>
            <a:off x="46634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mencoba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2194560"/>
            <a:ext cx="3749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4846320" y="2304288"/>
            <a:ext cx="33832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1. Lumbung AI: Masuk sebagai Owner (hendra.owner@lumbung.test) -&gt; menu Laporan -&gt; klik 'Ask Lumbung AI' untuk analisis omzet &amp; rekomendasi margin via Gemini AI.</a:t>
            </a:r>
            <a:endParaRPr lang="en-US" sz="1500" dirty="0"/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2. Customer Display: Buka tab sekunder /customer-display; setiap kasir input menu di POS, layar pelanggan tersinkronisasi 0ms via BroadcastChannel.</a:t>
            </a:r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3. Multi-Sheet Excel: Unduh rekapitulasi performa cabang, shift, dan transaksi dalam format .XLSX terstruktur di menu Laporan.</a:t>
            </a:r>
          </a:p>
        </p:txBody>
      </p:sp>
      <p:sp>
        <p:nvSpPr>
          <p:cNvPr id="16" name="Shape 12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008" cy="4572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Pelajaran dan rencana berikutnya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5A6B78"/>
                </a:solidFill>
                <a:latin typeface="Arial"/>
              </a:rPr>
              <a:t>Capstone Showcase  |  Lumbung POS  |  Jihan Kusumawardhani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058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 w="15875">
            <a:solidFill>
              <a:srgbClr val="D8E2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Yang aku pelajari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31520" y="1783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914400" y="1892808"/>
            <a:ext cx="31546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Pentingnya menempatkan validasi integritas data &amp; keamanan di level database (PostgreSQL RLS, database function, atomic lock, dan sequence) daripada hanya mengandalkan frontend logic.</a:t>
            </a:r>
            <a:endParaRPr lang="en-US" sz="1600" dirty="0"/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Hal ini menjamin pencegahan race condition saat dua kasir menjual stok terakhir bersamaan dan memastikan data rahasia harga modal tidak pernah bocor ke sisi klien.</a:t>
            </a:r>
          </a:p>
        </p:txBody>
      </p:sp>
      <p:sp>
        <p:nvSpPr>
          <p:cNvPr id="12" name="Shape 8"/>
          <p:cNvSpPr/>
          <p:nvPr/>
        </p:nvSpPr>
        <p:spPr>
          <a:xfrm>
            <a:off x="4663440" y="10058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6F1FB"/>
          </a:solidFill>
          <a:ln w="15875">
            <a:solidFill>
              <a:srgbClr val="E6F1F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Rencana berikutnya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892040" y="1783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B7C4CF"/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5074920" y="1892808"/>
            <a:ext cx="31546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00" b="0">
                <a:solidFill>
                  <a:srgbClr val="1F2937"/>
                </a:solidFill>
                <a:latin typeface="Poppins"/>
              </a:rPr>
              <a:t>- Integrasi Payment Gateway QRIS Dinamis otomatis (webhook Mayar sandbox untuk mengubah status transaksi menunggu_bayar menjadi lunas).</a:t>
            </a:r>
            <a:endParaRPr lang="en-US" sz="1600" dirty="0"/>
          </a:p>
          <a:p>
            <a:r>
              <a:rPr sz="1100" b="0">
                <a:solidFill>
                  <a:srgbClr val="1F2937"/>
                </a:solidFill>
                <a:latin typeface="Poppins"/>
              </a:rPr>
              <a:t>- Modul Transfer Stok Antar-Cabang dan notifikasi otomatis WhatsApp saat stok cabang mencapai batas minimum.</a:t>
            </a:r>
          </a:p>
          <a:p>
            <a:br/>
            <a:r>
              <a:rPr sz="1300" b="1">
                <a:solidFill>
                  <a:srgbClr val="0072CE"/>
                </a:solidFill>
                <a:latin typeface="Poppins"/>
              </a:rPr>
              <a:t>Terima kasih, silakan bila ada pertanyaan.</a:t>
            </a:r>
          </a:p>
        </p:txBody>
      </p:sp>
      <p:sp>
        <p:nvSpPr>
          <p:cNvPr id="17" name="Shape 12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5875">
            <a:solidFill>
              <a:srgbClr val="FFF6C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9560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 Showcase Capstone</dc:title>
  <dc:subject>PptxGenJS Presentation</dc:subject>
  <dc:creator>Bootcamp AI Web Programming</dc:creator>
  <cp:lastModifiedBy>Bootcamp AI Web Programming</cp:lastModifiedBy>
  <cp:revision>1</cp:revision>
  <dcterms:created xsi:type="dcterms:W3CDTF">2026-10-15T07:25:11Z</dcterms:created>
  <dcterms:modified xsi:type="dcterms:W3CDTF">2026-10-15T07:25:11Z</dcterms:modified>
</cp:coreProperties>
</file>